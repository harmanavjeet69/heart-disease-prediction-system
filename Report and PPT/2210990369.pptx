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4"/>
  </p:sldMasterIdLst>
  <p:notesMasterIdLst>
    <p:notesMasterId r:id="rId18"/>
  </p:notesMasterIdLst>
  <p:handoutMasterIdLst>
    <p:handoutMasterId r:id="rId19"/>
  </p:handoutMasterIdLst>
  <p:sldIdLst>
    <p:sldId id="256" r:id="rId5"/>
    <p:sldId id="257" r:id="rId6"/>
    <p:sldId id="269" r:id="rId7"/>
    <p:sldId id="270" r:id="rId8"/>
    <p:sldId id="271" r:id="rId9"/>
    <p:sldId id="272" r:id="rId10"/>
    <p:sldId id="273" r:id="rId11"/>
    <p:sldId id="274" r:id="rId12"/>
    <p:sldId id="275" r:id="rId13"/>
    <p:sldId id="276" r:id="rId14"/>
    <p:sldId id="277" r:id="rId15"/>
    <p:sldId id="278" r:id="rId16"/>
    <p:sldId id="268" r:id="rId17"/>
  </p:sldIdLst>
  <p:sldSz cx="9144000" cy="6858000" type="screen4x3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B2E2"/>
    <a:srgbClr val="2A66AC"/>
    <a:srgbClr val="75A4DD"/>
    <a:srgbClr val="2E6CB8"/>
    <a:srgbClr val="2A65AC"/>
    <a:srgbClr val="255997"/>
    <a:srgbClr val="3379CD"/>
    <a:srgbClr val="558ED5"/>
    <a:srgbClr val="78A6DE"/>
    <a:srgbClr val="9DBE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7089" autoAdjust="0"/>
  </p:normalViewPr>
  <p:slideViewPr>
    <p:cSldViewPr snapToGrid="0">
      <p:cViewPr>
        <p:scale>
          <a:sx n="66" d="100"/>
          <a:sy n="66" d="100"/>
        </p:scale>
        <p:origin x="1280" y="5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F607C9A-EDB5-4C0A-BCFE-81AAF6133E6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F00B0C-2831-4624-A5D3-43F42D30BA7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D2B5EB-424D-4C39-A8AB-65F1D7895EF3}" type="datetimeFigureOut">
              <a:rPr lang="en-US" smtClean="0"/>
              <a:pPr/>
              <a:t>5/1/2026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34ABA9-0C2F-480A-B554-A457296C39B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F3BA01-5457-4975-8BF5-D0EAD49D534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199376-55CE-4213-A97D-9D70929AC50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002274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8BC1CF-45D5-4DEE-AAB8-8C5341844FC9}" type="datetimeFigureOut">
              <a:rPr lang="en-US" smtClean="0"/>
              <a:pPr/>
              <a:t>5/1/2026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A7523A-12D4-4E0F-9409-B3F845B483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12222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A7523A-12D4-4E0F-9409-B3F845B48333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99BB95-9755-4BC6-8051-C2B8CF54F2A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Name of the faculty [Group: G00] [Sem:2nd]</a:t>
            </a:r>
          </a:p>
        </p:txBody>
      </p:sp>
    </p:spTree>
    <p:extLst>
      <p:ext uri="{BB962C8B-B14F-4D97-AF65-F5344CB8AC3E}">
        <p14:creationId xmlns:p14="http://schemas.microsoft.com/office/powerpoint/2010/main" val="42548747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 dirty="0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subTitle"/>
          </p:nvPr>
        </p:nvSpPr>
        <p:spPr>
          <a:xfrm>
            <a:off x="0" y="0"/>
            <a:ext cx="5486040" cy="4238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5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ustomShape 1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" name="CustomShape 2"/>
          <p:cNvSpPr/>
          <p:nvPr/>
        </p:nvSpPr>
        <p:spPr>
          <a:xfrm flipV="1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2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pic>
        <p:nvPicPr>
          <p:cNvPr id="3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4" name="Group 3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5" name="CustomShape 4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6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7" name="CustomShape 5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8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pic>
        <p:nvPicPr>
          <p:cNvPr id="9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10" name="Group 6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1" name="CustomShape 7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12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13" name="CustomShape 8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14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sp>
        <p:nvSpPr>
          <p:cNvPr id="15" name="PlaceHolder 9"/>
          <p:cNvSpPr>
            <a:spLocks noGrp="1"/>
          </p:cNvSpPr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title style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10"/>
          <p:cNvSpPr>
            <a:spLocks noGrp="1"/>
          </p:cNvSpPr>
          <p:nvPr>
            <p:ph type="body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text styles</a:t>
            </a:r>
            <a:endParaRPr lang="en-US" sz="3200" b="0" strike="noStrike" spc="-1" dirty="0">
              <a:solidFill>
                <a:srgbClr val="000000"/>
              </a:solidFill>
              <a:latin typeface="Calibri"/>
            </a:endParaRPr>
          </a:p>
          <a:p>
            <a:pPr marL="743040" lvl="1" indent="-2854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Second level</a:t>
            </a:r>
            <a:endParaRPr lang="en-US" sz="2800" b="0" strike="noStrike" spc="-1" dirty="0">
              <a:solidFill>
                <a:srgbClr val="000000"/>
              </a:solidFill>
              <a:latin typeface="Calibri"/>
            </a:endParaRPr>
          </a:p>
          <a:p>
            <a:pPr marL="1143000" lvl="2" indent="-2282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Third level</a:t>
            </a:r>
            <a:endParaRPr lang="en-US" sz="2400" b="0" strike="noStrike" spc="-1" dirty="0">
              <a:solidFill>
                <a:srgbClr val="000000"/>
              </a:solidFill>
              <a:latin typeface="Calibri"/>
            </a:endParaRPr>
          </a:p>
          <a:p>
            <a:pPr marL="1600200" lvl="3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Fourth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 marL="2057400" lvl="4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Fifth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11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endParaRPr lang="en-GB" sz="1200" b="0" strike="noStrike" spc="-1">
              <a:latin typeface="Times New Roman"/>
            </a:endParaRPr>
          </a:p>
        </p:txBody>
      </p:sp>
      <p:sp>
        <p:nvSpPr>
          <p:cNvPr id="18" name="PlaceHolder 12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r>
              <a:rPr lang="en-GB" sz="2400" b="0" strike="noStrike" spc="-1">
                <a:latin typeface="Times New Roman"/>
              </a:rPr>
              <a:t>Name</a:t>
            </a:r>
          </a:p>
        </p:txBody>
      </p:sp>
      <p:sp>
        <p:nvSpPr>
          <p:cNvPr id="19" name="PlaceHolder 13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1CFDC92E-FF5D-4613-8499-B15BC16E50D9}" type="slidenum">
              <a:rPr lang="en-US" sz="1200" b="0" strike="noStrike" spc="-1">
                <a:solidFill>
                  <a:srgbClr val="898989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‹#›</a:t>
            </a:fld>
            <a:endParaRPr lang="en-GB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38/s41598-023-40717-1" TargetMode="External"/><Relationship Id="rId2" Type="http://schemas.openxmlformats.org/officeDocument/2006/relationships/hyperlink" Target="https://doi.org/10.21512/emacsjournal.v4i3.8683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doi.org/10.1109/ICE348803.2020.9122958" TargetMode="External"/><Relationship Id="rId4" Type="http://schemas.openxmlformats.org/officeDocument/2006/relationships/hyperlink" Target="https://archive.ics.uci.edu/dataset/45/heart+disease" TargetMode="Externa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Shape 1"/>
          <p:cNvSpPr txBox="1"/>
          <p:nvPr/>
        </p:nvSpPr>
        <p:spPr>
          <a:xfrm>
            <a:off x="0" y="840631"/>
            <a:ext cx="9144000" cy="5377289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IN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Project Presentation of </a:t>
            </a: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CO-OP Project at Industry (Module-2) </a:t>
            </a:r>
            <a:r>
              <a:rPr lang="en-IN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(22CS421)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4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Heart Disease Prediction System</a:t>
            </a:r>
            <a:endParaRPr lang="en-US" sz="2000" i="1" spc="-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b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</a:br>
            <a:r>
              <a:rPr lang="en-US" sz="2000" spc="-1" dirty="0" err="1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Harmanavjeet</a:t>
            </a: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 Singh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2210990369</a:t>
            </a:r>
            <a:endParaRPr lang="en-US" sz="2000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Supervised By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Mr. Gurpreet Singh</a:t>
            </a: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Department of </a:t>
            </a: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Computer Science and Engineering, 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Chitkara University, Punjab</a:t>
            </a:r>
          </a:p>
          <a:p>
            <a:pPr algn="ctr"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641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613954" y="-10461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2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057489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400"/>
              </a:spcBef>
            </a:pPr>
            <a:r>
              <a:rPr lang="en-IN" sz="2200" b="1" dirty="0"/>
              <a:t>1. </a:t>
            </a:r>
            <a:r>
              <a:rPr lang="en-IN" sz="2200" b="1" u="sng" dirty="0"/>
              <a:t>Cardiovascular Disease  </a:t>
            </a:r>
          </a:p>
          <a:p>
            <a:pPr>
              <a:lnSpc>
                <a:spcPct val="100000"/>
              </a:lnSpc>
              <a:spcBef>
                <a:spcPts val="400"/>
              </a:spcBef>
            </a:pPr>
            <a:r>
              <a:rPr lang="en-US" sz="2200" dirty="0"/>
              <a:t>Heart disease includes various conditions affecting the heart and blood vessels, such as coronary artery disease, stroke, and heart failure. </a:t>
            </a: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22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r>
              <a:rPr lang="en-IN" sz="2200" b="1" dirty="0"/>
              <a:t>2. </a:t>
            </a:r>
            <a:r>
              <a:rPr lang="en-IN" sz="2200" b="1" u="sng" dirty="0"/>
              <a:t>Risk Factors</a:t>
            </a:r>
          </a:p>
          <a:p>
            <a:pPr>
              <a:lnSpc>
                <a:spcPct val="100000"/>
              </a:lnSpc>
              <a:spcBef>
                <a:spcPts val="400"/>
              </a:spcBef>
            </a:pPr>
            <a:r>
              <a:rPr lang="en-US" sz="2200" dirty="0"/>
              <a:t>Modifiable risk factors include smoking, high cholesterol, high blood pressure, and lack of physical activity. </a:t>
            </a: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22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r>
              <a:rPr lang="en-US" sz="2200" b="1" dirty="0"/>
              <a:t>3. </a:t>
            </a:r>
            <a:r>
              <a:rPr lang="en-US" sz="2200" b="1" u="sng" dirty="0"/>
              <a:t>Early Detection </a:t>
            </a:r>
          </a:p>
          <a:p>
            <a:pPr>
              <a:lnSpc>
                <a:spcPct val="100000"/>
              </a:lnSpc>
              <a:spcBef>
                <a:spcPts val="400"/>
              </a:spcBef>
            </a:pPr>
            <a:r>
              <a:rPr lang="en-US" sz="2200" dirty="0"/>
              <a:t>Early detection and treatment can significantly improve outcomes and reduce the risk of complications.</a:t>
            </a:r>
            <a:endParaRPr lang="en-US" sz="22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90D9DD-35E3-0E93-9373-759D82419E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sz="3200" dirty="0"/>
              <a:t>Background Work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84775D-0FBA-E3E3-864B-095500ADF9F1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139337" y="722811"/>
            <a:ext cx="8547103" cy="4858989"/>
          </a:xfrm>
        </p:spPr>
        <p:txBody>
          <a:bodyPr/>
          <a:lstStyle/>
          <a:p>
            <a:pPr marL="514350" indent="-514350">
              <a:buAutoNum type="arabicPeriod"/>
            </a:pPr>
            <a:r>
              <a:rPr lang="en-US" sz="2000" b="1" dirty="0"/>
              <a:t>Logistic Regression </a:t>
            </a:r>
            <a:r>
              <a:rPr lang="en-US" sz="2000" dirty="0"/>
              <a:t>is effective in predicting heart disease from clinical data, often used for binary classification. </a:t>
            </a:r>
          </a:p>
          <a:p>
            <a:pPr marL="514350" indent="-514350">
              <a:buAutoNum type="arabicPeriod"/>
            </a:pPr>
            <a:endParaRPr lang="en-US" sz="2000" dirty="0"/>
          </a:p>
          <a:p>
            <a:pPr marL="514350" indent="-514350">
              <a:buAutoNum type="arabicPeriod"/>
            </a:pPr>
            <a:r>
              <a:rPr lang="en-US" sz="2000" b="1" dirty="0"/>
              <a:t>Decision Trees and Random Forests </a:t>
            </a:r>
            <a:r>
              <a:rPr lang="en-US" sz="2000" dirty="0"/>
              <a:t>are popular for their interpretability and high accuracy in identifying complex patterns in patient data.</a:t>
            </a:r>
          </a:p>
          <a:p>
            <a:pPr marL="514350" indent="-514350">
              <a:buAutoNum type="arabicPeriod"/>
            </a:pPr>
            <a:endParaRPr lang="en-US" sz="2000" dirty="0"/>
          </a:p>
          <a:p>
            <a:pPr marL="514350" indent="-514350">
              <a:buAutoNum type="arabicPeriod"/>
            </a:pPr>
            <a:r>
              <a:rPr lang="en-US" sz="2000" b="1" dirty="0" err="1"/>
              <a:t>XGBoost</a:t>
            </a:r>
            <a:r>
              <a:rPr lang="en-US" sz="2000" b="1" dirty="0"/>
              <a:t> and AdaBoost </a:t>
            </a:r>
            <a:r>
              <a:rPr lang="en-US" sz="2000" dirty="0"/>
              <a:t>enhance performance by combining classifiers, reducing overfitting, and improving precision.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1251107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ACE68F-1980-36A1-725F-7793B6B161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sz="3200" dirty="0"/>
              <a:t>Methodology Diagram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BF280E-501D-EFA2-752F-1C997D0441C1}"/>
              </a:ext>
            </a:extLst>
          </p:cNvPr>
          <p:cNvSpPr>
            <a:spLocks noGrp="1"/>
          </p:cNvSpPr>
          <p:nvPr>
            <p:ph type="sub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B93C96-D828-BDD6-FE8D-8C57343334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914040"/>
            <a:ext cx="5486039" cy="5549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62698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2805DC-00E6-E1D4-7E0D-1A6E0E3626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6496594" cy="914040"/>
          </a:xfrm>
        </p:spPr>
        <p:txBody>
          <a:bodyPr/>
          <a:lstStyle/>
          <a:p>
            <a:pPr algn="ctr"/>
            <a:r>
              <a:rPr lang="en-IN" sz="3200" dirty="0"/>
              <a:t>Data Collection and Preprocessing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F81D2C-2570-D5CB-C470-B55F54CD4F65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457200" y="1254034"/>
            <a:ext cx="8229240" cy="4327766"/>
          </a:xfrm>
        </p:spPr>
        <p:txBody>
          <a:bodyPr/>
          <a:lstStyle/>
          <a:p>
            <a:pPr marL="0" indent="0">
              <a:buNone/>
            </a:pPr>
            <a:r>
              <a:rPr lang="en-US" sz="2000" b="1" u="sng" dirty="0"/>
              <a:t>1. Data Source</a:t>
            </a:r>
            <a:r>
              <a:rPr lang="en-US" sz="2000" dirty="0"/>
              <a:t> </a:t>
            </a:r>
          </a:p>
          <a:p>
            <a:pPr marL="0" indent="0">
              <a:buNone/>
            </a:pPr>
            <a:r>
              <a:rPr lang="en-US" sz="2000" dirty="0"/>
              <a:t>Data is collected from the Cleveland Heart Disease dataset from the University of California, Irvine (UCI) Machine Learning Repository.[3]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b="1" u="sng" dirty="0"/>
              <a:t>2. Data Cleaning </a:t>
            </a:r>
          </a:p>
          <a:p>
            <a:pPr marL="0" indent="0">
              <a:buNone/>
            </a:pPr>
            <a:r>
              <a:rPr lang="en-US" sz="2000" dirty="0"/>
              <a:t>Missing values are handled, inconsistent data is corrected, and outliers are identified and addressed.</a:t>
            </a:r>
          </a:p>
          <a:p>
            <a:pPr marL="0" indent="0">
              <a:buNone/>
            </a:pPr>
            <a:r>
              <a:rPr lang="en-US" sz="2000" dirty="0"/>
              <a:t> </a:t>
            </a:r>
          </a:p>
          <a:p>
            <a:pPr marL="0" indent="0">
              <a:buNone/>
            </a:pPr>
            <a:r>
              <a:rPr lang="en-US" sz="2000" b="1" u="sng" dirty="0"/>
              <a:t>3. Data Transformation </a:t>
            </a:r>
          </a:p>
          <a:p>
            <a:pPr marL="0" indent="0">
              <a:buNone/>
            </a:pPr>
            <a:r>
              <a:rPr lang="en-US" sz="2000" dirty="0"/>
              <a:t>Variables are scaled or normalized to ensure consistency and improve model performance.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936169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C1F03E-7F7E-629B-7BF9-D20FB194E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sz="3200" dirty="0"/>
              <a:t>Dataset Description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3FC0D5-4FB1-103D-11C3-C26052A44499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134754" y="760396"/>
            <a:ext cx="9009246" cy="6097604"/>
          </a:xfrm>
        </p:spPr>
        <p:txBody>
          <a:bodyPr/>
          <a:lstStyle/>
          <a:p>
            <a:pPr marL="0" indent="0">
              <a:buNone/>
            </a:pPr>
            <a:r>
              <a:rPr lang="en-US" sz="1800" b="1" u="sng" dirty="0"/>
              <a:t>The dataset [3] includes the following features: </a:t>
            </a:r>
          </a:p>
          <a:p>
            <a:r>
              <a:rPr lang="en-US" sz="1800" b="1" dirty="0"/>
              <a:t>age:</a:t>
            </a:r>
            <a:r>
              <a:rPr lang="en-US" sz="1800" dirty="0"/>
              <a:t> Age of the patient. </a:t>
            </a:r>
          </a:p>
          <a:p>
            <a:r>
              <a:rPr lang="en-US" sz="1800" b="1" dirty="0"/>
              <a:t>sex: </a:t>
            </a:r>
            <a:r>
              <a:rPr lang="en-US" sz="1800" dirty="0"/>
              <a:t>Gender of the patient (0: female, 1: male). </a:t>
            </a:r>
          </a:p>
          <a:p>
            <a:r>
              <a:rPr lang="en-US" sz="1800" b="1" dirty="0"/>
              <a:t>cp: </a:t>
            </a:r>
            <a:r>
              <a:rPr lang="en-US" sz="1800" dirty="0"/>
              <a:t>Type of chest pain - 0: Typical angina , 1: Atypical angina, 2: Non-anginal pain, 3: Asymptomatic </a:t>
            </a:r>
          </a:p>
          <a:p>
            <a:r>
              <a:rPr lang="en-US" sz="1800" b="1" dirty="0" err="1"/>
              <a:t>trestbps</a:t>
            </a:r>
            <a:r>
              <a:rPr lang="en-US" sz="1800" b="1" dirty="0"/>
              <a:t>: </a:t>
            </a:r>
            <a:r>
              <a:rPr lang="en-US" sz="1800" dirty="0"/>
              <a:t>Resting blood pressure in mmHg. </a:t>
            </a:r>
          </a:p>
          <a:p>
            <a:r>
              <a:rPr lang="en-US" sz="1800" b="1" dirty="0" err="1"/>
              <a:t>chol</a:t>
            </a:r>
            <a:r>
              <a:rPr lang="en-US" sz="1800" b="1" dirty="0"/>
              <a:t>: </a:t>
            </a:r>
            <a:r>
              <a:rPr lang="en-US" sz="1800" dirty="0"/>
              <a:t>Serum cholesterol level in mg/dL. </a:t>
            </a:r>
          </a:p>
          <a:p>
            <a:r>
              <a:rPr lang="en-US" sz="1800" b="1" dirty="0" err="1"/>
              <a:t>fbs</a:t>
            </a:r>
            <a:r>
              <a:rPr lang="en-US" sz="1800" b="1" dirty="0"/>
              <a:t>: </a:t>
            </a:r>
            <a:r>
              <a:rPr lang="en-US" sz="1800" dirty="0"/>
              <a:t>(Fasting blood sugar &gt; 120 mg/dl): 1 if true, 0 if false. </a:t>
            </a:r>
          </a:p>
          <a:p>
            <a:r>
              <a:rPr lang="en-US" sz="1800" b="1" dirty="0" err="1"/>
              <a:t>restecg</a:t>
            </a:r>
            <a:r>
              <a:rPr lang="en-US" sz="1800" b="1" dirty="0"/>
              <a:t>: </a:t>
            </a:r>
            <a:r>
              <a:rPr lang="en-US" sz="1800" dirty="0"/>
              <a:t>Resting electrocardiographic results- 0: Normal, 1: ST-T wave abnormality (indicating potential heart disease), 2: Probable or definite left ventricular hypertrophy </a:t>
            </a:r>
          </a:p>
          <a:p>
            <a:r>
              <a:rPr lang="en-US" sz="1800" b="1" dirty="0" err="1"/>
              <a:t>thalach</a:t>
            </a:r>
            <a:r>
              <a:rPr lang="en-US" sz="1800" b="1" dirty="0"/>
              <a:t>: </a:t>
            </a:r>
            <a:r>
              <a:rPr lang="en-US" sz="1800" dirty="0"/>
              <a:t>Maximum heart rate achieved. </a:t>
            </a:r>
          </a:p>
          <a:p>
            <a:r>
              <a:rPr lang="en-US" sz="1800" b="1" dirty="0" err="1"/>
              <a:t>exang</a:t>
            </a:r>
            <a:r>
              <a:rPr lang="en-US" sz="1800" b="1" dirty="0"/>
              <a:t>: </a:t>
            </a:r>
            <a:r>
              <a:rPr lang="en-US" sz="1800" dirty="0"/>
              <a:t>Exercise induced angina. 1 if the patient experiences angina with exercise, 0 if not. </a:t>
            </a:r>
          </a:p>
          <a:p>
            <a:r>
              <a:rPr lang="en-US" sz="1800" b="1" dirty="0" err="1"/>
              <a:t>oldpeak</a:t>
            </a:r>
            <a:r>
              <a:rPr lang="en-US" sz="1800" b="1" dirty="0"/>
              <a:t>: </a:t>
            </a:r>
            <a:r>
              <a:rPr lang="en-US" sz="1800" dirty="0"/>
              <a:t>ST depression induced by exercise relative to rest. </a:t>
            </a:r>
          </a:p>
          <a:p>
            <a:r>
              <a:rPr lang="en-US" sz="1800" b="1" dirty="0"/>
              <a:t>Thal: </a:t>
            </a:r>
            <a:r>
              <a:rPr lang="en-US" sz="1800" dirty="0"/>
              <a:t>Thalassemia Blood Disorder- 1: Normal, 2: Fixed defect, 3:Reversible defect </a:t>
            </a:r>
          </a:p>
          <a:p>
            <a:r>
              <a:rPr lang="en-US" sz="1800" b="1" dirty="0"/>
              <a:t>Target: </a:t>
            </a:r>
            <a:r>
              <a:rPr lang="en-US" sz="1800" dirty="0"/>
              <a:t>The outcome label indicating the presence of heart disease: 0: No heart disease 1: Heart disease</a:t>
            </a: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11676033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4C0A0E-9357-52DE-9708-BFD70D2841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sz="3200" dirty="0"/>
              <a:t>Correlation Heatmap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0699D2-A6FF-E93B-DEBE-22D19F366D0B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2261937" y="2954956"/>
            <a:ext cx="3041584" cy="2626844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75B23E8-E144-0B09-D7FE-012ACCC4E7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224" y="914040"/>
            <a:ext cx="8847774" cy="5648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09539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5CCC40-51A7-B608-DF36-5E470EED54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0"/>
            <a:ext cx="6497053" cy="914040"/>
          </a:xfrm>
        </p:spPr>
        <p:txBody>
          <a:bodyPr/>
          <a:lstStyle/>
          <a:p>
            <a:pPr algn="ctr"/>
            <a:r>
              <a:rPr lang="en-IN" sz="3200" dirty="0"/>
              <a:t>Machine Learning Models Explored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6A94DC-0D42-0EDD-579D-14F823707304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457200" y="1934678"/>
            <a:ext cx="8229240" cy="3792354"/>
          </a:xfrm>
        </p:spPr>
        <p:txBody>
          <a:bodyPr/>
          <a:lstStyle/>
          <a:p>
            <a:r>
              <a:rPr lang="en-US" sz="1800" b="1" u="sng" dirty="0"/>
              <a:t>Logistic Regression : </a:t>
            </a:r>
            <a:r>
              <a:rPr lang="en-US" sz="1800" dirty="0"/>
              <a:t>A well-known model for binary classification that shows how different features relate to heart disease risk. [1]</a:t>
            </a:r>
          </a:p>
          <a:p>
            <a:r>
              <a:rPr lang="en-US" sz="1800" b="1" u="sng" dirty="0"/>
              <a:t>Decision Tree : </a:t>
            </a:r>
            <a:r>
              <a:rPr lang="en-US" sz="1800" dirty="0"/>
              <a:t>A rule-based model that makes it easy to understand feature importance and decision paths beneficial for identifying key risk factors. [1] [2] [4]</a:t>
            </a:r>
          </a:p>
          <a:p>
            <a:r>
              <a:rPr lang="en-US" sz="1800" b="1" u="sng" dirty="0"/>
              <a:t>Random Forest : </a:t>
            </a:r>
            <a:r>
              <a:rPr lang="en-US" sz="1800" dirty="0"/>
              <a:t>An ensemble of decision trees that provides high accuracy and reduces overfitting. [2]</a:t>
            </a:r>
          </a:p>
          <a:p>
            <a:r>
              <a:rPr lang="en-US" sz="1800" b="1" u="sng" dirty="0"/>
              <a:t>Support Vector Machines (SVM) : </a:t>
            </a:r>
            <a:r>
              <a:rPr lang="en-US" sz="1800" dirty="0"/>
              <a:t>Effective when dealing with non-linearly separable data. [1] [2] [4]</a:t>
            </a:r>
          </a:p>
          <a:p>
            <a:r>
              <a:rPr lang="en-US" sz="1800" b="1" u="sng" dirty="0"/>
              <a:t>K-Nearest </a:t>
            </a:r>
            <a:r>
              <a:rPr lang="en-US" sz="1800" b="1" u="sng" dirty="0" err="1"/>
              <a:t>Neighbours</a:t>
            </a:r>
            <a:r>
              <a:rPr lang="en-US" sz="1800" b="1" u="sng" dirty="0"/>
              <a:t> : </a:t>
            </a:r>
            <a:r>
              <a:rPr lang="en-US" sz="1800" dirty="0"/>
              <a:t>Works well in cases with a smaller dataset, useful for quickly identifying patterns in patient risk. [1] [2]</a:t>
            </a:r>
          </a:p>
          <a:p>
            <a:r>
              <a:rPr lang="en-US" sz="1800" b="1" u="sng" dirty="0"/>
              <a:t>Artificial Neural Networks (ANN) and Multi-Layer Perceptron(MLP) : </a:t>
            </a:r>
            <a:r>
              <a:rPr lang="en-US" sz="1800" dirty="0"/>
              <a:t>Able to learn complex patterns in large datasets, capturing nuanced risk factors in patient data. [5] </a:t>
            </a:r>
          </a:p>
          <a:p>
            <a:r>
              <a:rPr lang="en-US" sz="1800" b="1" u="sng" dirty="0"/>
              <a:t>Ensemble Learning (Gradient Boosting, AdaBoost, </a:t>
            </a:r>
            <a:r>
              <a:rPr lang="en-US" sz="1800" b="1" u="sng" dirty="0" err="1"/>
              <a:t>XGBoost</a:t>
            </a:r>
            <a:r>
              <a:rPr lang="en-US" sz="1800" b="1" u="sng" dirty="0"/>
              <a:t>) : </a:t>
            </a:r>
            <a:r>
              <a:rPr lang="en-US" sz="1800" dirty="0"/>
              <a:t>These provide strong classification accuracy, particularly useful when combining weak learners for an optimal result. [2]</a:t>
            </a:r>
          </a:p>
          <a:p>
            <a:r>
              <a:rPr lang="en-US" sz="1800" b="1" u="sng" dirty="0"/>
              <a:t>Naive Bayes : </a:t>
            </a:r>
            <a:r>
              <a:rPr lang="en-US" sz="1800" dirty="0"/>
              <a:t>A probabilistic approach that's efficient for smaller datasets and provides quick, interpretable results. [1] [2] [4]</a:t>
            </a: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4045378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BF2933-3040-7558-B827-B45D2471AA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255" y="0"/>
            <a:ext cx="6400799" cy="914040"/>
          </a:xfrm>
        </p:spPr>
        <p:txBody>
          <a:bodyPr/>
          <a:lstStyle/>
          <a:p>
            <a:r>
              <a:rPr lang="en-IN" sz="3200" dirty="0"/>
              <a:t>Model Evaluation and Comparison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1BDBF8-1279-AA93-2035-A27D0C1BFEE7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457200" y="2050181"/>
            <a:ext cx="8229240" cy="3465096"/>
          </a:xfrm>
        </p:spPr>
        <p:txBody>
          <a:bodyPr/>
          <a:lstStyle/>
          <a:p>
            <a:pPr marL="0" indent="0">
              <a:buNone/>
            </a:pPr>
            <a:r>
              <a:rPr lang="en-IN" b="1" u="sng" dirty="0"/>
              <a:t> </a:t>
            </a:r>
            <a:r>
              <a:rPr lang="en-IN" sz="1900" b="1" u="sng" dirty="0"/>
              <a:t>1. Accuracy :</a:t>
            </a:r>
          </a:p>
          <a:p>
            <a:pPr marL="0" indent="0" algn="ctr">
              <a:buNone/>
            </a:pPr>
            <a:r>
              <a:rPr lang="en-IN" sz="1900" u="sng" dirty="0"/>
              <a:t>TP+TN</a:t>
            </a:r>
          </a:p>
          <a:p>
            <a:pPr marL="0" indent="0" algn="ctr">
              <a:buNone/>
            </a:pPr>
            <a:r>
              <a:rPr lang="en-IN" sz="1900" dirty="0"/>
              <a:t>TP+FP+FN+TN</a:t>
            </a:r>
          </a:p>
          <a:p>
            <a:pPr marL="0" indent="0" algn="ctr">
              <a:buNone/>
            </a:pPr>
            <a:endParaRPr lang="en-IN" sz="1900" dirty="0"/>
          </a:p>
          <a:p>
            <a:pPr marL="0" indent="0">
              <a:buNone/>
            </a:pPr>
            <a:r>
              <a:rPr lang="en-IN" sz="1900" b="1" u="sng" dirty="0"/>
              <a:t>2. Precision :</a:t>
            </a:r>
          </a:p>
          <a:p>
            <a:pPr marL="0" indent="0" algn="ctr">
              <a:buNone/>
            </a:pPr>
            <a:r>
              <a:rPr lang="en-IN" sz="1900" u="sng" dirty="0"/>
              <a:t>TP</a:t>
            </a:r>
          </a:p>
          <a:p>
            <a:pPr marL="0" indent="0" algn="ctr">
              <a:buNone/>
            </a:pPr>
            <a:r>
              <a:rPr lang="en-IN" sz="1900" dirty="0"/>
              <a:t>TP+FP</a:t>
            </a:r>
          </a:p>
          <a:p>
            <a:pPr marL="0" indent="0" algn="ctr">
              <a:buNone/>
            </a:pPr>
            <a:endParaRPr lang="en-IN" sz="1900" dirty="0"/>
          </a:p>
          <a:p>
            <a:pPr marL="0" indent="0">
              <a:buNone/>
            </a:pPr>
            <a:r>
              <a:rPr lang="en-IN" sz="1900" b="1" u="sng" dirty="0"/>
              <a:t>3.Recall :</a:t>
            </a:r>
          </a:p>
          <a:p>
            <a:pPr marL="0" indent="0" algn="ctr">
              <a:buNone/>
            </a:pPr>
            <a:r>
              <a:rPr lang="en-IN" sz="1900" u="sng" dirty="0"/>
              <a:t>TP</a:t>
            </a:r>
          </a:p>
          <a:p>
            <a:pPr marL="0" indent="0" algn="ctr">
              <a:buNone/>
            </a:pPr>
            <a:r>
              <a:rPr lang="en-IN" sz="1900" dirty="0"/>
              <a:t>TP+FN</a:t>
            </a:r>
          </a:p>
          <a:p>
            <a:pPr marL="0" indent="0" algn="ctr">
              <a:buNone/>
            </a:pPr>
            <a:endParaRPr lang="en-IN" sz="1900" dirty="0"/>
          </a:p>
          <a:p>
            <a:pPr marL="0" indent="0">
              <a:buNone/>
            </a:pPr>
            <a:r>
              <a:rPr lang="en-IN" sz="1900" b="1" u="sng" dirty="0"/>
              <a:t>4. F1-Score :</a:t>
            </a:r>
          </a:p>
          <a:p>
            <a:pPr marL="0" indent="0" algn="ctr">
              <a:buNone/>
            </a:pPr>
            <a:r>
              <a:rPr lang="en-IN" sz="1900" u="sng" dirty="0"/>
              <a:t>2 X (Recall X Precision)</a:t>
            </a:r>
          </a:p>
          <a:p>
            <a:pPr marL="0" indent="0" algn="ctr">
              <a:buNone/>
            </a:pPr>
            <a:r>
              <a:rPr lang="en-IN" sz="1900" dirty="0"/>
              <a:t>Recall + Precision</a:t>
            </a:r>
          </a:p>
        </p:txBody>
      </p:sp>
    </p:spTree>
    <p:extLst>
      <p:ext uri="{BB962C8B-B14F-4D97-AF65-F5344CB8AC3E}">
        <p14:creationId xmlns:p14="http://schemas.microsoft.com/office/powerpoint/2010/main" val="42514682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3F3707-B4FE-40CF-FF8B-4493CFCDB8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sz="3200" dirty="0"/>
              <a:t>Classification Report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A2DB1F-738F-1D07-CACF-3CF25C3F4971}"/>
              </a:ext>
            </a:extLst>
          </p:cNvPr>
          <p:cNvSpPr>
            <a:spLocks noGrp="1"/>
          </p:cNvSpPr>
          <p:nvPr>
            <p:ph type="subTitle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B5FECE5-D840-6BCE-3522-99B5AC4712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29904"/>
            <a:ext cx="9028498" cy="5120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39404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FE8377-70F1-01CF-6DB0-FC24E0DCD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sz="3200" dirty="0"/>
              <a:t>Future Enhancements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5AD4E6-DAEB-2985-5BC2-5327AFB3E0CE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747126"/>
          </a:xfrm>
        </p:spPr>
        <p:txBody>
          <a:bodyPr/>
          <a:lstStyle/>
          <a:p>
            <a:pPr marL="0" indent="0">
              <a:buNone/>
            </a:pPr>
            <a:r>
              <a:rPr lang="en-US" sz="2000" b="1" dirty="0"/>
              <a:t>1.</a:t>
            </a:r>
            <a:r>
              <a:rPr lang="en-US" sz="2000" dirty="0"/>
              <a:t>The research involves </a:t>
            </a:r>
            <a:r>
              <a:rPr lang="en-US" sz="2000" b="1" dirty="0">
                <a:solidFill>
                  <a:srgbClr val="FF0000"/>
                </a:solidFill>
              </a:rPr>
              <a:t>comparative analysis of various machine learning models</a:t>
            </a:r>
            <a:r>
              <a:rPr lang="en-US" sz="2000" dirty="0"/>
              <a:t> to identify the most effective one based on accuracy and key performance metrics.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b="1" dirty="0"/>
              <a:t>2.</a:t>
            </a:r>
            <a:r>
              <a:rPr lang="en-US" sz="2000" dirty="0"/>
              <a:t> Development of an </a:t>
            </a:r>
            <a:r>
              <a:rPr lang="en-US" sz="2000" b="1" dirty="0">
                <a:solidFill>
                  <a:srgbClr val="FF0000"/>
                </a:solidFill>
              </a:rPr>
              <a:t>interactive application </a:t>
            </a:r>
            <a:r>
              <a:rPr lang="en-US" sz="2000" dirty="0"/>
              <a:t>that will help clinicians to make informed decisions.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b="1" dirty="0"/>
              <a:t>3. </a:t>
            </a:r>
            <a:r>
              <a:rPr lang="en-US" sz="2000" dirty="0"/>
              <a:t>Development of an </a:t>
            </a:r>
            <a:r>
              <a:rPr lang="en-US" sz="2000" b="1" dirty="0">
                <a:solidFill>
                  <a:srgbClr val="FF0000"/>
                </a:solidFill>
              </a:rPr>
              <a:t>interactive dashboard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/>
              <a:t>that will automatically update with the new data. The dynamic visualizations will allow to filter data by gender, age and specific risk factors, making easier for clinicians to take decisions.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14187305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7056A1-D929-7FFF-376D-088C075B2E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sz="3200" dirty="0"/>
              <a:t>References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5B1EDC-1F35-CE45-BA9A-67B3CAFD318B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457200" y="1604519"/>
            <a:ext cx="8229240" cy="4363143"/>
          </a:xfrm>
        </p:spPr>
        <p:txBody>
          <a:bodyPr/>
          <a:lstStyle/>
          <a:p>
            <a:r>
              <a:rPr lang="en-IN" sz="2000" dirty="0"/>
              <a:t>[</a:t>
            </a:r>
            <a:r>
              <a:rPr lang="en-IN" sz="1600" dirty="0"/>
              <a:t>1] Anderies, A., </a:t>
            </a:r>
            <a:r>
              <a:rPr lang="en-IN" sz="1600" dirty="0" err="1"/>
              <a:t>Tchin</a:t>
            </a:r>
            <a:r>
              <a:rPr lang="en-IN" sz="1600" dirty="0"/>
              <a:t>, J. A. R. W., </a:t>
            </a:r>
            <a:r>
              <a:rPr lang="en-IN" sz="1600" dirty="0" err="1"/>
              <a:t>Putro</a:t>
            </a:r>
            <a:r>
              <a:rPr lang="en-IN" sz="1600" dirty="0"/>
              <a:t>, P. H., Darmawan, Y. P., &amp; Gunawan, A. A. S. (2022). Prediction of heart disease UCI dataset using machine learning algorithms. Engineering, Mathematics and Computer Science (EMACS) Journal, 4(3), 87–93. </a:t>
            </a:r>
            <a:r>
              <a:rPr lang="en-IN" sz="1600" dirty="0">
                <a:hlinkClick r:id="rId2"/>
              </a:rPr>
              <a:t>https://doi.org/10.21512/emacsjournal.v4i3.8683</a:t>
            </a:r>
            <a:endParaRPr lang="en-IN" sz="1600" dirty="0"/>
          </a:p>
          <a:p>
            <a:endParaRPr lang="en-IN" sz="1600" dirty="0"/>
          </a:p>
          <a:p>
            <a:r>
              <a:rPr lang="en-IN" sz="1600" dirty="0"/>
              <a:t>[2] Srinivasan, S., Gunasekaran, S., Mathivanan, S. K., et al. (2023). An active learning machine technique based prediction of cardiovascular heart disease from UCI-repository database. Scientific Reports, 13, 13588. </a:t>
            </a:r>
            <a:r>
              <a:rPr lang="en-IN" sz="1600" dirty="0">
                <a:hlinkClick r:id="rId3"/>
              </a:rPr>
              <a:t>https://doi.org/10.1038/s41598-023-40717-1</a:t>
            </a:r>
            <a:endParaRPr lang="en-IN" sz="1600" dirty="0"/>
          </a:p>
          <a:p>
            <a:endParaRPr lang="en-IN" sz="1600" dirty="0"/>
          </a:p>
          <a:p>
            <a:r>
              <a:rPr lang="en-US" sz="1600" dirty="0"/>
              <a:t>[3] Cleveland Heart Disease Dataset available at: </a:t>
            </a:r>
            <a:r>
              <a:rPr lang="en-US" sz="1600" dirty="0">
                <a:hlinkClick r:id="rId4"/>
              </a:rPr>
              <a:t>https://archive.ics.uci.edu/dataset/45/heart+disease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/>
              <a:t>[4] Singh, A., &amp; Kumar, R. (2020). Heart disease prediction using machine learning algorithms. In 2020 International Conference on Electrical and Electronics Engineering (ICE3) (pp. 452–457). IEEE. </a:t>
            </a:r>
            <a:r>
              <a:rPr lang="en-US" sz="1600" dirty="0">
                <a:hlinkClick r:id="rId5"/>
              </a:rPr>
              <a:t>https://doi.org/10.1109/ICE348803.2020.9122958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/>
              <a:t>[5] Purushottam, Saxena, K., &amp; Sharma, R. (2016). Efficient heart disease prediction system. Procedia Computer Science, 85, 962–969. https://doi.org/10.1016/j.procs.2016.05.288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37917215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1297577" y="2821578"/>
            <a:ext cx="6705599" cy="1410788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sz="5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13</a:t>
            </a:fld>
            <a:endParaRPr lang="en-GB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344798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96F1BF43DDE004485E7A868D137D60A" ma:contentTypeVersion="0" ma:contentTypeDescription="Create a new document." ma:contentTypeScope="" ma:versionID="47fff7f98a9c49c088ba096c14cf4458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05e9f2c4932a6a674126b9dde7716e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491DF113-39A2-46D5-BFDA-E63300A9ECA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737ED6F0-5E4C-4CD0-9B68-9C53F925A6F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A62A602-78C1-468C-BB25-57CD481DB741}">
  <ds:schemaRefs>
    <ds:schemaRef ds:uri="http://purl.org/dc/terms/"/>
    <ds:schemaRef ds:uri="http://www.w3.org/XML/1998/namespace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schemas.openxmlformats.org/package/2006/metadata/core-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35854</TotalTime>
  <Words>1076</Words>
  <Application>Microsoft Office PowerPoint</Application>
  <PresentationFormat>On-screen Show (4:3)</PresentationFormat>
  <Paragraphs>101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Background Work</vt:lpstr>
      <vt:lpstr>Methodology Diagram</vt:lpstr>
      <vt:lpstr>Data Collection and Preprocessing</vt:lpstr>
      <vt:lpstr>Dataset Description</vt:lpstr>
      <vt:lpstr>Correlation Heatmap</vt:lpstr>
      <vt:lpstr>Machine Learning Models Explored</vt:lpstr>
      <vt:lpstr>Model Evaluation and Comparison</vt:lpstr>
      <vt:lpstr>Classification Report</vt:lpstr>
      <vt:lpstr>Future Enhancements</vt:lpstr>
      <vt:lpstr>References</vt:lpstr>
      <vt:lpstr>PowerPoint Presentation</vt:lpstr>
    </vt:vector>
  </TitlesOfParts>
  <Company>CCC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ABC</dc:creator>
  <cp:lastModifiedBy>harmanav.22@gmail.com</cp:lastModifiedBy>
  <cp:revision>2301</cp:revision>
  <dcterms:created xsi:type="dcterms:W3CDTF">2010-04-09T07:36:15Z</dcterms:created>
  <dcterms:modified xsi:type="dcterms:W3CDTF">2026-05-02T07:05:30Z</dcterms:modified>
  <dc:language>en-GB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CCC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On-screen Show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37</vt:i4>
  </property>
  <property fmtid="{D5CDD505-2E9C-101B-9397-08002B2CF9AE}" pid="13" name="ContentTypeId">
    <vt:lpwstr>0x010100096F1BF43DDE004485E7A868D137D60A</vt:lpwstr>
  </property>
</Properties>
</file>